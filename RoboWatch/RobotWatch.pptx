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9" r:id="rId8"/>
    <p:sldId id="270" r:id="rId9"/>
    <p:sldId id="261" r:id="rId10"/>
    <p:sldId id="266" r:id="rId11"/>
    <p:sldId id="262" r:id="rId12"/>
    <p:sldId id="263" r:id="rId13"/>
    <p:sldId id="264" r:id="rId14"/>
    <p:sldId id="267" r:id="rId15"/>
    <p:sldId id="26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12"/>
    <p:restoredTop sz="94926"/>
  </p:normalViewPr>
  <p:slideViewPr>
    <p:cSldViewPr snapToGrid="0">
      <p:cViewPr varScale="1">
        <p:scale>
          <a:sx n="111" d="100"/>
          <a:sy n="111" d="100"/>
        </p:scale>
        <p:origin x="24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2/18/26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A58B3-A2E3-5F1A-06DB-5896DED749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7463" y="703473"/>
            <a:ext cx="8637073" cy="1462378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 err="1"/>
              <a:t>RoboWatch</a:t>
            </a:r>
            <a:r>
              <a:rPr lang="en-US" sz="2800" b="1" dirty="0"/>
              <a:t> – AI-Enabled Autonomous Multi-Robot Surveillance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9F568BC2-9FF2-9BCD-640E-AFD07E93F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4016" y="3919504"/>
            <a:ext cx="8637072" cy="154529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Team Members:</a:t>
            </a:r>
          </a:p>
          <a:p>
            <a:r>
              <a:rPr lang="en-US" dirty="0" err="1"/>
              <a:t>Ch.Siri</a:t>
            </a:r>
            <a:r>
              <a:rPr lang="en-US" dirty="0"/>
              <a:t> </a:t>
            </a:r>
            <a:r>
              <a:rPr lang="en-US"/>
              <a:t>(2303A51281)</a:t>
            </a:r>
            <a:br>
              <a:rPr lang="en-US" dirty="0"/>
            </a:br>
            <a:r>
              <a:rPr lang="en-US" dirty="0"/>
              <a:t>Tharun </a:t>
            </a:r>
            <a:r>
              <a:rPr lang="en-US" dirty="0" err="1"/>
              <a:t>Bairi</a:t>
            </a:r>
            <a:r>
              <a:rPr lang="en-US" dirty="0"/>
              <a:t> (2405A44L02)</a:t>
            </a:r>
            <a:br>
              <a:rPr lang="en-US" dirty="0"/>
            </a:br>
            <a:r>
              <a:rPr lang="en-US" dirty="0"/>
              <a:t>Vaishnavi Bairagoni (2303A51347)</a:t>
            </a:r>
            <a:br>
              <a:rPr lang="en-US" dirty="0"/>
            </a:br>
            <a:r>
              <a:rPr lang="en-US" dirty="0" err="1"/>
              <a:t>Manivardhan</a:t>
            </a:r>
            <a:r>
              <a:rPr lang="en-US" dirty="0"/>
              <a:t> (2303A52250)</a:t>
            </a:r>
          </a:p>
        </p:txBody>
      </p:sp>
    </p:spTree>
    <p:extLst>
      <p:ext uri="{BB962C8B-B14F-4D97-AF65-F5344CB8AC3E}">
        <p14:creationId xmlns:p14="http://schemas.microsoft.com/office/powerpoint/2010/main" val="2171609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0F831-3BF4-24A6-5424-33FE3F428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B15CC-BD87-5156-5E25-487EBE38D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Limitations of Existing Systems</a:t>
            </a:r>
          </a:p>
          <a:p>
            <a:r>
              <a:rPr lang="en-US" dirty="0"/>
              <a:t>Fixed camera blind spots</a:t>
            </a:r>
          </a:p>
          <a:p>
            <a:r>
              <a:rPr lang="en-US" dirty="0"/>
              <a:t>Manual human monitoring</a:t>
            </a:r>
          </a:p>
          <a:p>
            <a:r>
              <a:rPr lang="en-US" dirty="0"/>
              <a:t>High risk to security personnel</a:t>
            </a:r>
          </a:p>
          <a:p>
            <a:r>
              <a:rPr lang="en-US" dirty="0"/>
              <a:t>Single-point system failure</a:t>
            </a:r>
          </a:p>
          <a:p>
            <a:r>
              <a:rPr lang="en-US" dirty="0"/>
              <a:t>No intelligent decision-making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193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0A02E-427A-81F1-31E4-EEBD60150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system and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74AA8-9B9A-59DC-D5BB-6670B40C9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An </a:t>
            </a:r>
            <a:r>
              <a:rPr lang="en-US" b="1" dirty="0"/>
              <a:t>AI-powered multi-robot surveillance system</a:t>
            </a:r>
            <a:r>
              <a:rPr lang="en-US" dirty="0"/>
              <a:t> capable of:</a:t>
            </a:r>
          </a:p>
          <a:p>
            <a:r>
              <a:rPr lang="en-US" dirty="0"/>
              <a:t>Autonomous patrolling</a:t>
            </a:r>
          </a:p>
          <a:p>
            <a:r>
              <a:rPr lang="en-US" dirty="0"/>
              <a:t>AI-based human detection</a:t>
            </a:r>
          </a:p>
          <a:p>
            <a:r>
              <a:rPr lang="en-US" dirty="0"/>
              <a:t>Real-time alert generation</a:t>
            </a:r>
          </a:p>
          <a:p>
            <a:r>
              <a:rPr lang="en-US" dirty="0"/>
              <a:t>Fault-tolerant operation</a:t>
            </a:r>
          </a:p>
          <a:p>
            <a:r>
              <a:rPr lang="en-US" b="1" dirty="0"/>
              <a:t>Objectives</a:t>
            </a:r>
          </a:p>
          <a:p>
            <a:r>
              <a:rPr lang="en-US" dirty="0"/>
              <a:t>Develop autonomous patrol robots</a:t>
            </a:r>
          </a:p>
          <a:p>
            <a:r>
              <a:rPr lang="en-US" dirty="0"/>
              <a:t>Implement real-time human detection</a:t>
            </a:r>
          </a:p>
          <a:p>
            <a:r>
              <a:rPr lang="en-US" dirty="0"/>
              <a:t>Enable robot-to-robot communication</a:t>
            </a:r>
          </a:p>
          <a:p>
            <a:r>
              <a:rPr lang="en-US" dirty="0"/>
              <a:t>Reduce human exposure to threats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055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D04E1-4CC5-A60F-2FE3-4690C57EA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6D350-3969-B9F5-9C22-D97A1E9FB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Architecture Style</a:t>
            </a:r>
          </a:p>
          <a:p>
            <a:r>
              <a:rPr lang="en-US" b="1" dirty="0"/>
              <a:t>Hierarchical Distributed Robotic Architecture</a:t>
            </a:r>
            <a:endParaRPr lang="en-US" dirty="0"/>
          </a:p>
          <a:p>
            <a:r>
              <a:rPr lang="en-US" b="1" dirty="0"/>
              <a:t>Components</a:t>
            </a:r>
          </a:p>
          <a:p>
            <a:r>
              <a:rPr lang="en-US" b="1" dirty="0"/>
              <a:t>Supervisor Robot</a:t>
            </a:r>
            <a:r>
              <a:rPr lang="en-US" dirty="0"/>
              <a:t> – Command &amp; intelligence unit</a:t>
            </a:r>
          </a:p>
          <a:p>
            <a:r>
              <a:rPr lang="en-US" b="1" dirty="0"/>
              <a:t>Assistant Robots</a:t>
            </a:r>
            <a:r>
              <a:rPr lang="en-US" dirty="0"/>
              <a:t> – Autonomous patrol agents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448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CAB4C-E222-9A98-FF94-11C3C0F78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Supervisor and assistant robots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0820D-017C-A986-83CD-835B7CF23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 fontScale="62500" lnSpcReduction="20000"/>
          </a:bodyPr>
          <a:lstStyle/>
          <a:p>
            <a:r>
              <a:rPr lang="en-US" sz="2300" b="1" dirty="0"/>
              <a:t>Supervisor Robot</a:t>
            </a:r>
          </a:p>
          <a:p>
            <a:r>
              <a:rPr lang="en-US" sz="2300" dirty="0"/>
              <a:t>Receives images from assistants</a:t>
            </a:r>
          </a:p>
          <a:p>
            <a:r>
              <a:rPr lang="en-US" sz="2300" dirty="0"/>
              <a:t>Confirms threats</a:t>
            </a:r>
          </a:p>
          <a:p>
            <a:r>
              <a:rPr lang="en-US" sz="2300" dirty="0"/>
              <a:t>Logs events</a:t>
            </a:r>
          </a:p>
          <a:p>
            <a:r>
              <a:rPr lang="en-US" sz="2300" dirty="0"/>
              <a:t>Sends alerts</a:t>
            </a:r>
          </a:p>
          <a:p>
            <a:r>
              <a:rPr lang="en-US" sz="2300" dirty="0"/>
              <a:t>Reassigns patrol routes</a:t>
            </a:r>
          </a:p>
          <a:p>
            <a:r>
              <a:rPr lang="en-US" sz="2300" b="1" dirty="0"/>
              <a:t>Assistant Robots</a:t>
            </a:r>
          </a:p>
          <a:p>
            <a:r>
              <a:rPr lang="en-US" sz="2300" dirty="0"/>
              <a:t>Navigate assigned zones</a:t>
            </a:r>
          </a:p>
          <a:p>
            <a:r>
              <a:rPr lang="en-US" sz="2300" dirty="0"/>
              <a:t>Capture surveillance images</a:t>
            </a:r>
          </a:p>
          <a:p>
            <a:r>
              <a:rPr lang="en-US" sz="2300" dirty="0"/>
              <a:t>Run lightweight AI</a:t>
            </a:r>
          </a:p>
          <a:p>
            <a:r>
              <a:rPr lang="en-US" sz="2300" dirty="0"/>
              <a:t>Detect abnormal activity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CC4023-9823-C87A-BE66-68147022E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117" y="2143235"/>
            <a:ext cx="5156637" cy="3437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63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F3FA7-906A-ABE5-C8FC-11CA10BDD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80500-BE69-D1E0-B1AB-B8C5D0942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782" y="1171116"/>
            <a:ext cx="9603275" cy="543514"/>
          </a:xfrm>
        </p:spPr>
        <p:txBody>
          <a:bodyPr/>
          <a:lstStyle/>
          <a:p>
            <a:r>
              <a:rPr lang="en-IN" dirty="0"/>
              <a:t>System Operation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13CF7F9-9734-D84E-2B07-83915BDCBE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5782" y="1998807"/>
            <a:ext cx="1026043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long-range wireless communication for transmitting alerts, system status, and location data without dependence on local Wi-Fi networks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(SIM Communication Module / 4G Module)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Controls the movement of robotic units by regulating motor speed and direction to support autonomous patrolling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(Motor Driver Module – L298N)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Maintains stable power supply to all electronic units, ensuring uninterrupted and safe system operation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(Voltage Regulator / Buck Converter)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Generates local audible indications during threat detection, emergency conditions, or system faults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(Buzzer)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900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93CC3-A76E-A6BA-26DD-774C68D11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411A7-01EC-2D62-872F-A1B0728A6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782" y="1171116"/>
            <a:ext cx="9603275" cy="543514"/>
          </a:xfrm>
        </p:spPr>
        <p:txBody>
          <a:bodyPr/>
          <a:lstStyle/>
          <a:p>
            <a:r>
              <a:rPr lang="en-IN" dirty="0"/>
              <a:t>Intelligent Sensing &amp; Awareness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5E93093-E32C-25AB-C010-93B0D200A2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5781" y="2140056"/>
            <a:ext cx="960327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Detects human motion in the surveillance area and triggers monitoring actions only when activity is present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(PIR Motion Sensor)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Identifies nearby objects or intrusions to avoid collisions during autonomous movement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(IR Proximity Sensor)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real-time geographical location of each robotic unit for tracking and alert verification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(GPS Module – NEO-7M)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Displays system status such as normal operation, alert condition, communication activity, or fault state using visual indicators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(LED Indicators)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492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A36AC-0898-62BF-08EB-D5DB64350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7B329-FEC6-B1FF-77A1-55377F29C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782" y="1171116"/>
            <a:ext cx="9603275" cy="543514"/>
          </a:xfrm>
        </p:spPr>
        <p:txBody>
          <a:bodyPr/>
          <a:lstStyle/>
          <a:p>
            <a:r>
              <a:rPr lang="en-US" dirty="0"/>
              <a:t>Features Enabled by These Operations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04D0E69-2340-8271-3AD7-EB54B72099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5200" y="2139941"/>
            <a:ext cx="1015842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Network-independent alert transmission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cellular communication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(SIM Communication Module / 4G Module)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Motion-triggered surveillance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reducing unnecessary processing and power consumption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(PIR Motion Sensor)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Location-aware threat reporting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precise tracking information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(GPS Module – NEO-7M)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Fault-tolerant operation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where last known status and location are transmitted during failure conditions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(GPS Module + SIM Communication Module)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Reliable autonomous patrolling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supported by stable power regulation and obstacle awareness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(Voltage Regulator + IR Proximity Sensor + Motor Driver)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760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40D87-1DF7-AFD3-31D5-16681C15D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AI-BASED HUMAN DETECTION &amp; DECISION LOGIC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2A598C7-B14F-8331-8C3B-49B3931062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242835"/>
            <a:ext cx="9697869" cy="3395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Human detection is performed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YOLO (You Only Look Once)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and OpenCV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Runs directly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Raspberry Pi 5 (Edge AI)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Detects humans in real time from camera input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Optimized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 inference and low power consumption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r>
              <a:rPr lang="en-US" sz="1800" b="1" dirty="0"/>
              <a:t>Decision Logic (Context-Aware Surveillance)</a:t>
            </a:r>
          </a:p>
          <a:p>
            <a:r>
              <a:rPr lang="en-US" sz="1800" dirty="0"/>
              <a:t>Human detection alone is not treated as a threat.</a:t>
            </a:r>
            <a:br>
              <a:rPr lang="en-US" sz="1800" dirty="0"/>
            </a:br>
            <a:r>
              <a:rPr lang="en-US" sz="1800" dirty="0"/>
              <a:t>The system combines </a:t>
            </a:r>
            <a:r>
              <a:rPr lang="en-US" sz="1800" b="1" dirty="0"/>
              <a:t>AI output with rule-based logic</a:t>
            </a:r>
            <a:r>
              <a:rPr lang="en-US" sz="1800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05F42D-DFEB-9ED1-8720-131A8E53F4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160" t="52399" r="54069" b="23065"/>
          <a:stretch>
            <a:fillRect/>
          </a:stretch>
        </p:blipFill>
        <p:spPr>
          <a:xfrm>
            <a:off x="8418787" y="3531476"/>
            <a:ext cx="3111864" cy="228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301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7532C-3837-91C5-3A5D-36C020081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AI-BASED HUMAN DETECTION &amp; DECISION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BB94C-946E-B967-0480-285092EB8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Alert Generation Logic</a:t>
            </a:r>
          </a:p>
          <a:p>
            <a:r>
              <a:rPr lang="en-US" dirty="0"/>
              <a:t>If a human is detected in a </a:t>
            </a:r>
            <a:r>
              <a:rPr lang="en-US" b="1" dirty="0"/>
              <a:t>restricted area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Supervisor robot validates detection</a:t>
            </a:r>
          </a:p>
          <a:p>
            <a:pPr lvl="1"/>
            <a:r>
              <a:rPr lang="en-US" dirty="0"/>
              <a:t>Threat is classified as </a:t>
            </a:r>
            <a:r>
              <a:rPr lang="en-US" b="1" dirty="0"/>
              <a:t>High Priority</a:t>
            </a:r>
            <a:endParaRPr lang="en-US" dirty="0"/>
          </a:p>
          <a:p>
            <a:pPr lvl="1"/>
            <a:r>
              <a:rPr lang="en-US" dirty="0"/>
              <a:t>Alert is generated immediately</a:t>
            </a:r>
          </a:p>
          <a:p>
            <a:r>
              <a:rPr lang="en-US" dirty="0"/>
              <a:t>If detection occurs in a </a:t>
            </a:r>
            <a:r>
              <a:rPr lang="en-US" b="1" dirty="0"/>
              <a:t>non-restricted area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Event is logged</a:t>
            </a:r>
          </a:p>
          <a:p>
            <a:pPr lvl="1"/>
            <a:r>
              <a:rPr lang="en-US" dirty="0"/>
              <a:t>No alert is triggered</a:t>
            </a:r>
          </a:p>
          <a:p>
            <a:r>
              <a:rPr lang="en-US" dirty="0"/>
              <a:t>This approach reduces unnecessary alerts and improves system reliability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942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0EB78-6F90-06B4-2C48-72BEC7676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FAULT TOLERANCE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76BC8-24FF-E9C2-A0A0-EAD34BB24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Fault Tolerance &amp; Self-Preservation</a:t>
            </a:r>
          </a:p>
          <a:p>
            <a:r>
              <a:rPr lang="en-US" dirty="0"/>
              <a:t>Supervisor detects robot failure</a:t>
            </a:r>
          </a:p>
          <a:p>
            <a:r>
              <a:rPr lang="en-US" dirty="0"/>
              <a:t>Backup robot rerouted automatically</a:t>
            </a:r>
          </a:p>
          <a:p>
            <a:r>
              <a:rPr lang="en-US" dirty="0"/>
              <a:t>Last image &amp; location transmitted</a:t>
            </a:r>
          </a:p>
          <a:p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8CE2DE4-6A53-851C-9CEA-01D5A6912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2535" y="2015732"/>
            <a:ext cx="3492499" cy="3469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6707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AD2A4-822D-5A15-6AC5-E9D1C4E3B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TECHNoLogies</a:t>
            </a:r>
            <a:r>
              <a:rPr lang="en-US" dirty="0"/>
              <a:t>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82BB2-9C31-90ED-A0EB-197928DF1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Technology Stack</a:t>
            </a:r>
          </a:p>
          <a:p>
            <a:r>
              <a:rPr lang="en-US" dirty="0"/>
              <a:t>Raspberry Pi 5</a:t>
            </a:r>
          </a:p>
          <a:p>
            <a:r>
              <a:rPr lang="en-US" dirty="0"/>
              <a:t>Python</a:t>
            </a:r>
          </a:p>
          <a:p>
            <a:r>
              <a:rPr lang="en-US" dirty="0"/>
              <a:t>OpenCV</a:t>
            </a:r>
          </a:p>
          <a:p>
            <a:r>
              <a:rPr lang="en-US" dirty="0"/>
              <a:t>YOLO (lightweight)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84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4F2F7-C3DF-BE97-2AB7-F4FB2DB22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B4911-5AD2-F022-90DE-482219927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proposed system provides a </a:t>
            </a:r>
            <a:r>
              <a:rPr lang="en-US" b="1" dirty="0"/>
              <a:t>smart, adaptive, and reliable surveillance solution</a:t>
            </a:r>
            <a:r>
              <a:rPr lang="en-US" dirty="0"/>
              <a:t>, reducing human risk and ensuring continuous monitoring using AI-powered multi-robot coordination.</a:t>
            </a:r>
          </a:p>
        </p:txBody>
      </p:sp>
    </p:spTree>
    <p:extLst>
      <p:ext uri="{BB962C8B-B14F-4D97-AF65-F5344CB8AC3E}">
        <p14:creationId xmlns:p14="http://schemas.microsoft.com/office/powerpoint/2010/main" val="585234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B29B1-FA70-E9B8-0C7A-2B5ED8AA9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C5765-17A3-35BC-1B97-4AC51AEEF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9150E4E-B0F6-4AB0-47F6-20073310FD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8831541"/>
              </p:ext>
            </p:extLst>
          </p:nvPr>
        </p:nvGraphicFramePr>
        <p:xfrm>
          <a:off x="2915279" y="2506679"/>
          <a:ext cx="5384800" cy="27690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40100">
                  <a:extLst>
                    <a:ext uri="{9D8B030D-6E8A-4147-A177-3AD203B41FA5}">
                      <a16:colId xmlns:a16="http://schemas.microsoft.com/office/drawing/2014/main" val="2779732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10210438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408741823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605626929"/>
                    </a:ext>
                  </a:extLst>
                </a:gridCol>
              </a:tblGrid>
              <a:tr h="2769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Parts List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Quantity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Price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Total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4889789"/>
                  </a:ext>
                </a:extLst>
              </a:tr>
              <a:tr h="27690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SIM Communication Module / 4G Module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1200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3600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48741413"/>
                  </a:ext>
                </a:extLst>
              </a:tr>
              <a:tr h="27690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Motor Driver Module (L298N)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350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1050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56762435"/>
                  </a:ext>
                </a:extLst>
              </a:tr>
              <a:tr h="27690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Voltage Regulator / Buck Converter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150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450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3566813"/>
                  </a:ext>
                </a:extLst>
              </a:tr>
              <a:tr h="27690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Buzzer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81713103"/>
                  </a:ext>
                </a:extLst>
              </a:tr>
              <a:tr h="27690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LED Indicators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0719088"/>
                  </a:ext>
                </a:extLst>
              </a:tr>
              <a:tr h="27690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PIR Motion Sensor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150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450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42272166"/>
                  </a:ext>
                </a:extLst>
              </a:tr>
              <a:tr h="27690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IR Proximity Sensor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00818696"/>
                  </a:ext>
                </a:extLst>
              </a:tr>
              <a:tr h="27690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GPS Module (NEO-7M)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26231127"/>
                  </a:ext>
                </a:extLst>
              </a:tr>
              <a:tr h="27690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Total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8590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93615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3056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22A5B-4C0E-EEB0-39CC-D62EFE801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/>
              <a:t>Thank you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F33E7A-E9B3-CA57-D674-18FE970DF3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65934" y="2016125"/>
            <a:ext cx="5174457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48819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242</TotalTime>
  <Words>686</Words>
  <Application>Microsoft Macintosh PowerPoint</Application>
  <PresentationFormat>Widescreen</PresentationFormat>
  <Paragraphs>127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Gill Sans MT</vt:lpstr>
      <vt:lpstr>Gallery</vt:lpstr>
      <vt:lpstr>RoboWatch – AI-Enabled Autonomous Multi-Robot Surveillance</vt:lpstr>
      <vt:lpstr>Problem Statement</vt:lpstr>
      <vt:lpstr>Proposed system and objectives</vt:lpstr>
      <vt:lpstr>System architecture</vt:lpstr>
      <vt:lpstr>Supervisor and assistant robots</vt:lpstr>
      <vt:lpstr>System Operation</vt:lpstr>
      <vt:lpstr>Intelligent Sensing &amp; Awareness</vt:lpstr>
      <vt:lpstr>Features Enabled by These Operations</vt:lpstr>
      <vt:lpstr>AI-BASED HUMAN DETECTION &amp; DECISION LOGIC</vt:lpstr>
      <vt:lpstr>AI-BASED HUMAN DETECTION &amp; DECISION LOGIC</vt:lpstr>
      <vt:lpstr>FAULT TOLERANCE</vt:lpstr>
      <vt:lpstr>TECHNoLogies used</vt:lpstr>
      <vt:lpstr>conclusion</vt:lpstr>
      <vt:lpstr>Components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Vaishnavi Bairagoni</dc:creator>
  <cp:lastModifiedBy>Vaishnavi Bairagoni</cp:lastModifiedBy>
  <cp:revision>10</cp:revision>
  <dcterms:created xsi:type="dcterms:W3CDTF">2026-02-09T17:31:53Z</dcterms:created>
  <dcterms:modified xsi:type="dcterms:W3CDTF">2026-02-18T13:35:01Z</dcterms:modified>
</cp:coreProperties>
</file>